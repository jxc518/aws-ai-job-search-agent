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59" r:id="rId5"/>
    <p:sldId id="267" r:id="rId6"/>
    <p:sldId id="268" r:id="rId7"/>
    <p:sldId id="260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3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64040" y="-1051560"/>
            <a:ext cx="3154680" cy="3154680"/>
          </a:xfrm>
          <a:prstGeom prst="ellipse">
            <a:avLst/>
          </a:prstGeom>
          <a:solidFill>
            <a:srgbClr val="30529D"/>
          </a:solidFill>
          <a:ln>
            <a:solidFill>
              <a:srgbClr val="1F3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12680" y="-658368"/>
            <a:ext cx="2423160" cy="2423160"/>
          </a:xfrm>
          <a:prstGeom prst="ellipse">
            <a:avLst/>
          </a:prstGeom>
          <a:solidFill>
            <a:srgbClr val="4869AE"/>
          </a:solidFill>
          <a:ln>
            <a:solidFill>
              <a:srgbClr val="1F3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AWS AI Job 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3230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 Narrow"/>
              </a:rPr>
              <a:t>Profile-Isolated Job Discovery, Governance, ML Ranking &amp; GenAI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90088"/>
            <a:ext cx="6858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rial Narrow"/>
              </a:rPr>
              <a:t>AWS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8348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 Narrow"/>
              </a:rPr>
              <a:t>Employer Adapters | Deterministic Governance | SageMaker | Amazon Bedrock | S3 Website | LangSmith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422392"/>
            <a:ext cx="1508760" cy="50292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6217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rial Narrow"/>
              </a:rPr>
              <a:t>Jingru Chen  •  September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 Narrow"/>
              </a:rPr>
              <a:t>What the Platform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 Narrow"/>
              </a:rPr>
              <a:t>One shared AWS platform while search, ranking, publication and history remain isolated by candidate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234440"/>
            <a:ext cx="64008" cy="452628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3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BUSINESS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1801368"/>
            <a:ext cx="315467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32834"/>
                </a:solidFill>
                <a:latin typeface="Arial Narrow"/>
              </a:rPr>
              <a:t>• 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Employer sites expose different search backends and schemas.
• Candidate profiles require different job families and screening rules.
• Daily runs must avoid rescoring recent postings while still scoring every NEW eligible job.
• Recruiter-facing output needs traceable AWS / AI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3087" y="1234440"/>
            <a:ext cx="64008" cy="4526280"/>
          </a:xfrm>
          <a:prstGeom prst="rect">
            <a:avLst/>
          </a:prstGeom>
          <a:solidFill>
            <a:srgbClr val="D3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79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ARCHITECTURE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801368"/>
            <a:ext cx="31546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32834"/>
                </a:solidFill>
                <a:latin typeface="Arial Narrow"/>
              </a:rPr>
              <a:t>• 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Shared platform + employer adapter layer.
• Central profile configuration; no title logic duplicated inside employer code.
• Deterministic screening before ML / GenAI.
• Profile-aware lifecycle and score cache.
• Daily publication with 7-day history.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27264" y="123444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27264" y="1234440"/>
            <a:ext cx="64008" cy="452628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91856" y="1380744"/>
            <a:ext cx="3154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PROFILE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1801368"/>
            <a:ext cx="315467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Frank C.
Data Science • AI • Quant • Analytics
W.Y. / Family-A
Bioanalysis • LC-MS/MS • Mass Spectrometry
Rule: profiles share infrastructure, not business search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89320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B437C"/>
                </a:solidFill>
                <a:latin typeface="Arial Narrow"/>
              </a:rPr>
              <a:t>Design principle: share infrastructure → isolate business intent → govern deterministically → score incrementally → publish auditable daily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950C0-C1E8-1764-F47E-2D59F9BF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96A25-40A7-C4AF-F2F3-4C63BF23EB9C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C1975-50DF-09DD-E183-27F6FB34E6F7}"/>
              </a:ext>
            </a:extLst>
          </p:cNvPr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 Narrow"/>
              </a:rPr>
              <a:t>AWS AI Job Search — End-to-End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4565F-B6C6-DD5C-25DE-5F55A9594F6B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7157556-ED5F-6D27-6D51-25C7FE88D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690"/>
            <a:ext cx="12192000" cy="4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3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 Narrow"/>
              </a:rPr>
              <a:t>Daily Scoring, Review &amp; Publication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9707E"/>
                </a:solidFill>
                <a:latin typeface="Arial Narrow"/>
              </a:rPr>
              <a:t>Incremental processing reduces unnecessary inference while preserving profile isolation and deterministic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325880"/>
            <a:ext cx="64008" cy="16916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3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1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1892807"/>
            <a:ext cx="3081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Employer adapters collect postings; profile configuration defines allowed job families.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15383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15383" y="1325880"/>
            <a:ext cx="64008" cy="1691640"/>
          </a:xfrm>
          <a:prstGeom prst="rect">
            <a:avLst/>
          </a:prstGeom>
          <a:solidFill>
            <a:srgbClr val="D3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9975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2 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5" y="1892807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Exclude internships, irrelevant roles and disallowed clearance requirements before AI scoring.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3258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325880"/>
            <a:ext cx="64008" cy="1691640"/>
          </a:xfrm>
          <a:prstGeom prst="rect">
            <a:avLst/>
          </a:prstGeom>
          <a:solidFill>
            <a:srgbClr val="7D4D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6448" y="14721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3 RESOLVE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892807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Arial Narrow"/>
              </a:rPr>
              <a:t>Identify NEW eligible postings; reuse recent cached scores when allowed by lifecycle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3383280"/>
            <a:ext cx="64008" cy="16916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3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4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Score every NEW eligible posting with SageMaker; retain model evidence for downstream selection.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15383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15383" y="3383280"/>
            <a:ext cx="64008" cy="16916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5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5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5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Use Bedrock for grounded review while preserving deterministic governance boundaries.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3383280"/>
            <a:ext cx="3401568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91856" y="3383280"/>
            <a:ext cx="64008" cy="16916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56448" y="3529584"/>
            <a:ext cx="3081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834"/>
                </a:solidFill>
                <a:latin typeface="Arial Narrow"/>
              </a:rPr>
              <a:t>6 PUBLISH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950208"/>
            <a:ext cx="30815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Rank high-to-low and retain up to Top 5 NEW jobs per employer; publish profile/date artifacts.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latin typeface="Arial Narrow"/>
              </a:rPr>
              <a:t>Daily contract: score all NEW eligible jobs first → then select Top 5 per employer → publish without cross-profile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146304"/>
            <a:ext cx="9692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/>
              <a:t>ML Ground Truth, </a:t>
            </a:r>
            <a:r>
              <a:rPr dirty="0" err="1"/>
              <a:t>XGBoost</a:t>
            </a:r>
            <a:r>
              <a:rPr dirty="0"/>
              <a:t> Scoring &amp; Bedrock GenAI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55448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1322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A7A"/>
                </a:solidFill>
              </a:defRPr>
            </a:pPr>
            <a:r>
              <a:rPr sz="1400" dirty="0"/>
              <a:t>Two profile-specific SageMaker </a:t>
            </a:r>
            <a:r>
              <a:rPr sz="1400" dirty="0" err="1"/>
              <a:t>XGBoost</a:t>
            </a:r>
            <a:r>
              <a:rPr sz="1400" dirty="0"/>
              <a:t> models provide quantitative job-fit scoring; Amazon Nova 2 Lite on Bedrock provides grounded semantic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146304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200" dirty="0"/>
              <a:t>1  Human / graded</a:t>
            </a:r>
            <a:br>
              <a:rPr sz="1200" dirty="0"/>
            </a:br>
            <a:r>
              <a:rPr sz="1200" dirty="0"/>
              <a:t>Ground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12264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2  Structured</a:t>
            </a:r>
            <a:br>
              <a:rPr sz="1300" dirty="0"/>
            </a:br>
            <a:r>
              <a:rPr sz="1300" dirty="0"/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8" y="1261872"/>
            <a:ext cx="1417320" cy="658368"/>
          </a:xfrm>
          <a:prstGeom prst="roundRect">
            <a:avLst/>
          </a:prstGeom>
          <a:solidFill>
            <a:srgbClr val="DAE3EE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3  </a:t>
            </a:r>
            <a:r>
              <a:rPr sz="1300" dirty="0" err="1"/>
              <a:t>XGBoost</a:t>
            </a:r>
            <a:br>
              <a:rPr sz="1300" dirty="0"/>
            </a:br>
            <a:r>
              <a:rPr sz="1300" dirty="0"/>
              <a:t>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9512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4  SageMaker</a:t>
            </a:r>
            <a:br>
              <a:rPr sz="1300" dirty="0"/>
            </a:br>
            <a:r>
              <a:rPr sz="1300" dirty="0"/>
              <a:t>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3136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5  Job-Fit</a:t>
            </a:r>
            <a:br>
              <a:rPr sz="1300" dirty="0"/>
            </a:br>
            <a:r>
              <a:rPr sz="1300" dirty="0"/>
              <a:t>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261872"/>
            <a:ext cx="1417320" cy="658368"/>
          </a:xfrm>
          <a:prstGeom prst="roundRect">
            <a:avLst/>
          </a:prstGeom>
          <a:solidFill>
            <a:srgbClr val="DAE3EE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6  Nova 2 Lite</a:t>
            </a:r>
            <a:br>
              <a:rPr sz="1300" dirty="0"/>
            </a:br>
            <a:r>
              <a:rPr sz="1300" dirty="0"/>
              <a:t>GenAI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0384" y="1261872"/>
            <a:ext cx="14173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32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E3C"/>
                </a:solidFill>
              </a:defRPr>
            </a:pPr>
            <a:r>
              <a:rPr sz="1300" dirty="0"/>
              <a:t>7  Governed</a:t>
            </a:r>
            <a:br>
              <a:rPr sz="1300" dirty="0"/>
            </a:br>
            <a:r>
              <a:rPr sz="1300" dirty="0"/>
              <a:t>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48840"/>
            <a:ext cx="3611880" cy="37439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73152" cy="3743960"/>
          </a:xfrm>
          <a:prstGeom prst="rect">
            <a:avLst/>
          </a:prstGeom>
          <a:solidFill>
            <a:srgbClr val="32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rPr dirty="0"/>
              <a:t>FRANK C. — XGBOOST JOB-FIT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2148840"/>
            <a:ext cx="3611880" cy="38201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4301063" y="2148840"/>
            <a:ext cx="60624" cy="374396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9704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t>FAMILY-A / W.Y. — XGBOOST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2148840"/>
            <a:ext cx="3611880" cy="3820160"/>
          </a:xfrm>
          <a:prstGeom prst="roundRect">
            <a:avLst/>
          </a:prstGeom>
          <a:solidFill>
            <a:srgbClr val="F2F6FA"/>
          </a:solidFill>
          <a:ln>
            <a:solidFill>
              <a:srgbClr val="DA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148839"/>
            <a:ext cx="54864" cy="3743959"/>
          </a:xfrm>
          <a:prstGeom prst="rect">
            <a:avLst/>
          </a:prstGeom>
          <a:solidFill>
            <a:srgbClr val="BE8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9" y="2313432"/>
            <a:ext cx="32644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203A"/>
                </a:solidFill>
              </a:defRPr>
            </a:pPr>
            <a:r>
              <a:t>AMAZON BEDROCK — NOVA 2 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697480"/>
            <a:ext cx="3264408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Supervised </a:t>
            </a:r>
            <a:r>
              <a:rPr sz="1300" dirty="0" err="1"/>
              <a:t>XGBoost</a:t>
            </a:r>
            <a:r>
              <a:rPr sz="1300" dirty="0"/>
              <a:t> model trained in SageMaker.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Ground truth: 24 labeled training rows; 8 human-approved positive rows.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Structured fit features feed quantitative ranking.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Real Batch Transform example: GDIT RQ227420 → score 0.8923.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Interpretation guardrail: small-sample demonstration score, not a calibrated probability.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697480"/>
            <a:ext cx="3310128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Separate profile-specific SageMaker </a:t>
            </a:r>
            <a:r>
              <a:rPr sz="1300" dirty="0" err="1"/>
              <a:t>XGBoost</a:t>
            </a:r>
            <a:r>
              <a:rPr sz="1300" dirty="0"/>
              <a:t> model for bioanalysis roles.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Training evidence includes a graded multiclass training dataset.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Independent model + inference + prediction artifacts preserve profile isolation.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Purpose: rank LC-MS/MS / bioanalysis opportunities using Family-A-specific relevance.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Exact aggregate accuracy / calibration metrics are not claimed by the recovered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97480"/>
            <a:ext cx="3346704" cy="290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Amazon Nova 2 Lite is a transformer-based generative foundation model available through Amazon Bedrock.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Project role: read JD + profile context and produce grounded semantic review.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Outputs: verified matches, gaps / unknowns, concise assessment.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Bedrock does not replace deterministic screening and does not overwrite the SageMaker score.</a:t>
            </a:r>
          </a:p>
          <a:p>
            <a:pPr>
              <a:spcAft>
                <a:spcPts val="800"/>
              </a:spcAft>
              <a:defRPr sz="1100">
                <a:solidFill>
                  <a:srgbClr val="232E3C"/>
                </a:solidFill>
              </a:defRPr>
            </a:pPr>
            <a:r>
              <a:rPr sz="1300" dirty="0"/>
              <a:t>• Separation of duties: </a:t>
            </a:r>
            <a:r>
              <a:rPr sz="1300" dirty="0" err="1"/>
              <a:t>XGBoost</a:t>
            </a:r>
            <a:r>
              <a:rPr sz="1300" dirty="0"/>
              <a:t> ranks quantitatively; Nova explains semantically.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FC899F-F9E4-20CA-3361-E6B8A856EF47}"/>
              </a:ext>
            </a:extLst>
          </p:cNvPr>
          <p:cNvSpPr/>
          <p:nvPr/>
        </p:nvSpPr>
        <p:spPr>
          <a:xfrm>
            <a:off x="25908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lang="en-US" dirty="0"/>
              <a:t>        ML Ground Truth, </a:t>
            </a:r>
            <a:r>
              <a:rPr lang="en-US" dirty="0" err="1"/>
              <a:t>XGBoost</a:t>
            </a:r>
            <a:r>
              <a:rPr lang="en-US" dirty="0"/>
              <a:t> Scoring &amp; Bedrock GenAI Review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027DF-CA29-1816-6EFF-88E361BCA6E2}"/>
              </a:ext>
            </a:extLst>
          </p:cNvPr>
          <p:cNvSpPr txBox="1"/>
          <p:nvPr/>
        </p:nvSpPr>
        <p:spPr>
          <a:xfrm>
            <a:off x="713232" y="6318376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>
                <a:latin typeface="Arial Narrow"/>
              </a:rPr>
              <a:t>ML / GenAI design: human-review labels -&gt; profile-specific </a:t>
            </a:r>
            <a:r>
              <a:rPr lang="en-US" sz="1300" b="1" dirty="0" err="1">
                <a:latin typeface="Arial Narrow"/>
              </a:rPr>
              <a:t>XGBoost</a:t>
            </a:r>
            <a:r>
              <a:rPr lang="en-US" sz="1300" b="1" dirty="0">
                <a:latin typeface="Arial Narrow"/>
              </a:rPr>
              <a:t> scoring -&gt; grounded Nova 2 Lite review -&gt; governed publication</a:t>
            </a:r>
            <a:endParaRPr sz="1300" b="1" dirty="0">
              <a:latin typeface="Arial Narr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98CD99-F701-CD99-240D-4D1CEA28E289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333F-D8FA-7293-E074-1EB66756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79B3C-62D3-D143-2161-F081CE2E105E}"/>
              </a:ext>
            </a:extLst>
          </p:cNvPr>
          <p:cNvSpPr txBox="1"/>
          <p:nvPr/>
        </p:nvSpPr>
        <p:spPr>
          <a:xfrm>
            <a:off x="502920" y="146304"/>
            <a:ext cx="9692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dirty="0"/>
              <a:t>ML Ground Truth, </a:t>
            </a:r>
            <a:r>
              <a:rPr dirty="0" err="1"/>
              <a:t>XGBoost</a:t>
            </a:r>
            <a:r>
              <a:rPr dirty="0"/>
              <a:t> Scoring &amp; Bedrock GenAI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353B1-F24F-B587-5621-794F5762AB35}"/>
              </a:ext>
            </a:extLst>
          </p:cNvPr>
          <p:cNvSpPr txBox="1"/>
          <p:nvPr/>
        </p:nvSpPr>
        <p:spPr>
          <a:xfrm>
            <a:off x="11199820" y="155448"/>
            <a:ext cx="4587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  <a:highlight>
                  <a:srgbClr val="00FF00"/>
                </a:highlight>
              </a:rPr>
              <a:t>5</a:t>
            </a:r>
            <a:r>
              <a:rPr lang="en-US" dirty="0">
                <a:solidFill>
                  <a:schemeClr val="bg1"/>
                </a:solidFill>
                <a:highlight>
                  <a:srgbClr val="00FF00"/>
                </a:highlight>
              </a:rPr>
              <a:t>56</a:t>
            </a:r>
            <a:endParaRPr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AB74EE-C381-AAD6-E785-4715521AABDD}"/>
              </a:ext>
            </a:extLst>
          </p:cNvPr>
          <p:cNvSpPr/>
          <p:nvPr/>
        </p:nvSpPr>
        <p:spPr>
          <a:xfrm>
            <a:off x="25908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rPr lang="en-US" dirty="0"/>
              <a:t>  Production AWS Evidence — SageMaker </a:t>
            </a:r>
            <a:r>
              <a:rPr lang="en-US" dirty="0" err="1"/>
              <a:t>XGBoost</a:t>
            </a:r>
            <a:r>
              <a:rPr lang="en-US" dirty="0"/>
              <a:t> &amp; Bedrock Nova 2 Lite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54DA648-E170-63F0-5BA2-A024335C8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" y="674733"/>
            <a:ext cx="6601392" cy="60117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A004B76-11EB-9DEF-556A-C2CE82DB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67" y="640080"/>
            <a:ext cx="5655733" cy="26608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9E7643D-E048-4E62-B99E-E3B92269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267" y="3317343"/>
            <a:ext cx="5655733" cy="354065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34974A0-34A3-8B10-9C03-FB333BEDF2F8}"/>
              </a:ext>
            </a:extLst>
          </p:cNvPr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93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Arial Narrow"/>
              </a:rPr>
              <a:t>AWS Website — Profile-Isolated Daily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" y="7863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9707E"/>
                </a:solidFill>
                <a:latin typeface="Arial Narrow"/>
              </a:rPr>
              <a:t>HR-ready website presents candidate-specific daily history while keeping the underlying platform shared.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" cy="4434840"/>
          </a:xfrm>
          <a:prstGeom prst="rect">
            <a:avLst/>
          </a:prstGeom>
          <a:solidFill>
            <a:srgbClr val="3C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4264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FRANK C. — DATA SCIENCE /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47088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September 29 daily publication
• Root summary: 3,154 raw jobs searched
• 191 passed deterministic governance
• 191 AI-scored NEW jobs
• 20 published Top jobs
Employers represented in the frozen daily artifact include Capital One, GDIT, Navy Federal and Optum.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434840"/>
          </a:xfrm>
          <a:prstGeom prst="rect">
            <a:avLst/>
          </a:prstGeom>
          <a:solidFill>
            <a:srgbClr val="269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14264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2834"/>
                </a:solidFill>
                <a:latin typeface="Arial Narrow"/>
              </a:rPr>
              <a:t>W.Y. / FAMILY-A — BIOANALYSIS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47088"/>
            <a:ext cx="5029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834"/>
                </a:solidFill>
                <a:latin typeface="Arial Narrow"/>
              </a:rPr>
              <a:t>September 29 daily publication
• Real employer/job records only
• AstraZeneca — Oncology Bioanalytical Strategy Lead
• Pfizer — Senior Scientist Mass </a:t>
            </a:r>
            <a:r>
              <a:rPr sz="1400" b="0" dirty="0" err="1">
                <a:solidFill>
                  <a:srgbClr val="232834"/>
                </a:solidFill>
                <a:latin typeface="Arial Narrow"/>
              </a:rPr>
              <a:t>Spectrometrist</a:t>
            </a:r>
            <a:r>
              <a:rPr sz="1400" b="0" dirty="0">
                <a:solidFill>
                  <a:srgbClr val="232834"/>
                </a:solidFill>
                <a:latin typeface="Arial Narrow"/>
              </a:rPr>
              <a:t>
September 28 was intentionally not backfilled because the only recovered Family-A artifact was a synthetic contract-test fixture.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437C"/>
                </a:solidFill>
                <a:latin typeface="Arial Narrow"/>
              </a:rPr>
              <a:t>Governance choice: missing historical evidence is preferable to publishing synthetic or unverifiable job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2B4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1887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Arial Narrow"/>
              </a:rPr>
              <a:t>Daily Runtime Observability — </a:t>
            </a:r>
            <a:r>
              <a:rPr sz="2300" b="1" dirty="0" err="1">
                <a:solidFill>
                  <a:srgbClr val="FFFFFF"/>
                </a:solidFill>
                <a:latin typeface="Arial Narrow"/>
              </a:rPr>
              <a:t>LangSmith</a:t>
            </a:r>
            <a:endParaRPr sz="2300" b="1" dirty="0">
              <a:solidFill>
                <a:srgbClr val="FFFFFF"/>
              </a:solidFill>
              <a:latin typeface="Arial Narro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39728" y="137160"/>
            <a:ext cx="256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8" name="Picture 7" descr="image(20260929-21044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1" y="658368"/>
            <a:ext cx="10871200" cy="6247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2F4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0972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Future Enhancements — V2 → V3 →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2207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572"/>
                </a:solidFill>
                <a:latin typeface="Aptos"/>
              </a:defRPr>
            </a:pPr>
            <a:r>
              <a:rPr lang="en-US" sz="1400" dirty="0">
                <a:solidFill>
                  <a:srgbClr val="5D6572"/>
                </a:solidFill>
                <a:latin typeface="Aptos"/>
              </a:rPr>
              <a:t>Additive evolution from the frozen V1 baseline—scale first, then agentic orchestration, then production-grade harness engineering.</a:t>
            </a:r>
            <a:endParaRPr sz="1400" dirty="0"/>
          </a:p>
        </p:txBody>
      </p:sp>
      <p:cxnSp>
        <p:nvCxnSpPr>
          <p:cNvPr id="5" name="Connector 4"/>
          <p:cNvCxnSpPr/>
          <p:nvPr/>
        </p:nvCxnSpPr>
        <p:spPr>
          <a:xfrm>
            <a:off x="914400" y="1437301"/>
            <a:ext cx="10378440" cy="0"/>
          </a:xfrm>
          <a:prstGeom prst="line">
            <a:avLst/>
          </a:prstGeom>
          <a:ln w="27940">
            <a:solidFill>
              <a:srgbClr val="2F4B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504188" y="1254421"/>
            <a:ext cx="329184" cy="329184"/>
          </a:xfrm>
          <a:prstGeom prst="ellipse">
            <a:avLst/>
          </a:prstGeom>
          <a:solidFill>
            <a:srgbClr val="2BA97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93333"/>
            <a:ext cx="233172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A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93333"/>
            <a:ext cx="64008" cy="3931920"/>
          </a:xfrm>
          <a:prstGeom prst="rect">
            <a:avLst/>
          </a:prstGeom>
          <a:solidFill>
            <a:srgbClr val="2BA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39637"/>
            <a:ext cx="2057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A97E"/>
                </a:solidFill>
                <a:latin typeface="Aptos Display"/>
              </a:defRPr>
            </a:pPr>
            <a: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23685"/>
            <a:ext cx="20339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62D3A"/>
                </a:solidFill>
                <a:latin typeface="Aptos"/>
              </a:defRPr>
            </a:pPr>
            <a:r>
              <a:rPr sz="1400" dirty="0"/>
              <a:t>CURRENT /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700303"/>
            <a:ext cx="2011680" cy="1985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Profile-isolated search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Employer adapters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Deterministic governance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SageMaker + Bedrock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S3 daily website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</a:t>
            </a:r>
            <a:r>
              <a:rPr sz="1400" dirty="0" err="1"/>
              <a:t>LangSmith</a:t>
            </a:r>
            <a:r>
              <a:rPr sz="1400" dirty="0"/>
              <a:t> observability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4155948" y="1254421"/>
            <a:ext cx="329184" cy="329184"/>
          </a:xfrm>
          <a:prstGeom prst="ellipse">
            <a:avLst/>
          </a:prstGeom>
          <a:solidFill>
            <a:srgbClr val="3999E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63240" y="1693333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9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63240" y="1693333"/>
            <a:ext cx="64008" cy="3931920"/>
          </a:xfrm>
          <a:prstGeom prst="rect">
            <a:avLst/>
          </a:prstGeom>
          <a:solidFill>
            <a:srgbClr val="399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27832" y="1839637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999EE"/>
                </a:solidFill>
                <a:latin typeface="Aptos Display"/>
              </a:defRPr>
            </a:pPr>
            <a: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223685"/>
            <a:ext cx="16323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62D3A"/>
                </a:solidFill>
                <a:latin typeface="Aptos"/>
              </a:defRPr>
            </a:pPr>
            <a:r>
              <a:rPr sz="1400" dirty="0"/>
              <a:t>SCALE &amp; HARDEN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7832" y="2681676"/>
            <a:ext cx="2194560" cy="198515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More employer adapters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More candidate profiles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Daily orchestration hardening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Score-cache optimization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Retry / recovery policies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Operational metrics</a:t>
            </a:r>
          </a:p>
        </p:txBody>
      </p:sp>
      <p:sp>
        <p:nvSpPr>
          <p:cNvPr id="18" name="Oval 17"/>
          <p:cNvSpPr/>
          <p:nvPr/>
        </p:nvSpPr>
        <p:spPr>
          <a:xfrm>
            <a:off x="6899148" y="1254421"/>
            <a:ext cx="329184" cy="329184"/>
          </a:xfrm>
          <a:prstGeom prst="ellipse">
            <a:avLst/>
          </a:prstGeom>
          <a:solidFill>
            <a:srgbClr val="E09D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06440" y="1659465"/>
            <a:ext cx="25146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1693333"/>
            <a:ext cx="64008" cy="3931920"/>
          </a:xfrm>
          <a:prstGeom prst="rect">
            <a:avLst/>
          </a:prstGeom>
          <a:solidFill>
            <a:srgbClr val="E0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71032" y="1839637"/>
            <a:ext cx="2240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E09D00"/>
                </a:solidFill>
                <a:latin typeface="Aptos Display"/>
              </a:defRPr>
            </a:pPr>
            <a:r>
              <a:t>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223685"/>
            <a:ext cx="19689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62D3A"/>
                </a:solidFill>
                <a:latin typeface="Aptos"/>
              </a:defRPr>
            </a:pPr>
            <a:r>
              <a:rPr sz="1400" dirty="0"/>
              <a:t>AGENTIC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2" y="2663049"/>
            <a:ext cx="2194560" cy="22006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Specialized search agents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Ranking / review agents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Dynamic routing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Cross-employer orchestration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Human-in-the-loop escalation</a:t>
            </a:r>
          </a:p>
          <a:p>
            <a:pPr>
              <a:spcAft>
                <a:spcPts val="600"/>
              </a:spcAft>
              <a:defRPr sz="1019">
                <a:solidFill>
                  <a:srgbClr val="262D3A"/>
                </a:solidFill>
                <a:latin typeface="Aptos"/>
              </a:defRPr>
            </a:pPr>
            <a:r>
              <a:rPr sz="1400" dirty="0"/>
              <a:t>• Agent-level tracing</a:t>
            </a:r>
          </a:p>
        </p:txBody>
      </p:sp>
      <p:sp>
        <p:nvSpPr>
          <p:cNvPr id="24" name="Oval 23"/>
          <p:cNvSpPr/>
          <p:nvPr/>
        </p:nvSpPr>
        <p:spPr>
          <a:xfrm>
            <a:off x="9962388" y="1254421"/>
            <a:ext cx="329184" cy="329184"/>
          </a:xfrm>
          <a:prstGeom prst="ellipse">
            <a:avLst/>
          </a:prstGeom>
          <a:solidFill>
            <a:srgbClr val="804AB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549640" y="1528741"/>
            <a:ext cx="3044952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04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49640" y="1528741"/>
            <a:ext cx="64008" cy="4160520"/>
          </a:xfrm>
          <a:prstGeom prst="rect">
            <a:avLst/>
          </a:prstGeom>
          <a:solidFill>
            <a:srgbClr val="804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4232" y="1675045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804AB5"/>
                </a:solidFill>
                <a:latin typeface="Aptos Display"/>
              </a:rPr>
              <a:t>V4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059093"/>
            <a:ext cx="2198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262D3A"/>
                </a:solidFill>
                <a:latin typeface="Aptos"/>
              </a:rPr>
              <a:t>HARNESS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734" y="2648197"/>
            <a:ext cx="3090672" cy="2264723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Agent Runtime / Control Plane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State &amp; Context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Tool &amp; Model Routing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Policy &amp; Guardrails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Retry / Recovery / Escalation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Evals &amp; Regression Gates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Trace / Cost / Latency Telemetry</a:t>
            </a:r>
          </a:p>
          <a:p>
            <a:pPr marL="285750" indent="-285750">
              <a:spcAft>
                <a:spcPts val="450"/>
              </a:spcAft>
              <a:buFont typeface="Arial" panose="020B0604020202020204" pitchFamily="34" charset="0"/>
              <a:buChar char="•"/>
              <a:defRPr sz="950">
                <a:solidFill>
                  <a:srgbClr val="262D3A"/>
                </a:solidFill>
                <a:latin typeface="Aptos"/>
              </a:defRPr>
            </a:pPr>
            <a:r>
              <a:rPr lang="en-US" sz="1400" dirty="0"/>
              <a:t>Human-in-the-Loop</a:t>
            </a:r>
            <a:endParaRPr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8975930" y="5122332"/>
            <a:ext cx="2134030" cy="461665"/>
          </a:xfrm>
          <a:prstGeom prst="roundRect">
            <a:avLst/>
          </a:prstGeom>
          <a:solidFill>
            <a:srgbClr val="F4EFFA"/>
          </a:solidFill>
          <a:ln>
            <a:solidFill>
              <a:srgbClr val="804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39428" y="5168054"/>
            <a:ext cx="226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804AB5"/>
                </a:solidFill>
                <a:latin typeface="Aptos"/>
              </a:rPr>
              <a:t>Target: reliable, governed agent execution at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128016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EF6458-BEE6-ECFE-2436-0F1932392FE3}"/>
              </a:ext>
            </a:extLst>
          </p:cNvPr>
          <p:cNvSpPr txBox="1"/>
          <p:nvPr/>
        </p:nvSpPr>
        <p:spPr>
          <a:xfrm>
            <a:off x="288418" y="5981986"/>
            <a:ext cx="1163040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Key Engineering Decisions</a:t>
            </a:r>
            <a:br>
              <a:rPr lang="en-US" sz="1500" dirty="0"/>
            </a:br>
            <a:r>
              <a:rPr lang="en-US" sz="1500" dirty="0"/>
              <a:t>Adapter-based employer integration • Profile-isolated configuration • Deterministic-before-AI governance • Incremental score reuse • Separate ML ranking / GenAI review • Artifact-driven observability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1051</Words>
  <Application>Microsoft Office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Narrow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jingru chen</dc:creator>
  <cp:keywords/>
  <dc:description>generated using python-pptx</dc:description>
  <cp:lastModifiedBy>jingru chen</cp:lastModifiedBy>
  <cp:revision>13</cp:revision>
  <dcterms:created xsi:type="dcterms:W3CDTF">2013-01-27T09:14:16Z</dcterms:created>
  <dcterms:modified xsi:type="dcterms:W3CDTF">2026-09-29T22:28:01Z</dcterms:modified>
  <cp:category/>
</cp:coreProperties>
</file>