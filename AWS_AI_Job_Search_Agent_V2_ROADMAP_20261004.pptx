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59" r:id="rId5"/>
    <p:sldId id="267" r:id="rId6"/>
    <p:sldId id="268" r:id="rId7"/>
    <p:sldId id="260" r:id="rId8"/>
    <p:sldId id="269" r:id="rId9"/>
    <p:sldId id="27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3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1051560"/>
            <a:ext cx="3154680" cy="3154680"/>
          </a:xfrm>
          <a:prstGeom prst="ellipse">
            <a:avLst/>
          </a:prstGeom>
          <a:solidFill>
            <a:srgbClr val="30529D"/>
          </a:solidFill>
          <a:ln>
            <a:solidFill>
              <a:srgbClr val="1F3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12680" y="-658368"/>
            <a:ext cx="2423160" cy="2423160"/>
          </a:xfrm>
          <a:prstGeom prst="ellipse">
            <a:avLst/>
          </a:prstGeom>
          <a:solidFill>
            <a:srgbClr val="4869AE"/>
          </a:solidFill>
          <a:ln>
            <a:solidFill>
              <a:srgbClr val="1F3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AWS AI Job 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3230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 Narrow"/>
              </a:rPr>
              <a:t>Profile-Isolated Job Discovery, Governance, ML Ranking &amp; GenAI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90088"/>
            <a:ext cx="6858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rial Narrow"/>
              </a:rPr>
              <a:t>AWS Portfolio Project</a:t>
            </a:r>
            <a:r>
              <a:rPr lang="en-US" sz="1700" b="0" dirty="0">
                <a:solidFill>
                  <a:srgbClr val="FFFFFF"/>
                </a:solidFill>
                <a:latin typeface="Arial Narrow"/>
              </a:rPr>
              <a:t>   - V2</a:t>
            </a:r>
            <a:endParaRPr sz="1700" b="0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9326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rial Narrow"/>
              </a:rPr>
              <a:t>Employer Adapters | Deterministic Governance | </a:t>
            </a:r>
            <a:r>
              <a:rPr lang="en-US" sz="1300" b="0" dirty="0">
                <a:solidFill>
                  <a:srgbClr val="FFFFFF"/>
                </a:solidFill>
                <a:latin typeface="Arial Narrow"/>
              </a:rPr>
              <a:t>Lambda | </a:t>
            </a:r>
            <a:r>
              <a:rPr sz="1300" b="0" dirty="0">
                <a:solidFill>
                  <a:srgbClr val="FFFFFF"/>
                </a:solidFill>
                <a:latin typeface="Arial Narrow"/>
              </a:rPr>
              <a:t>SageMaker | Amazon Bedrock | S3 Website |</a:t>
            </a:r>
            <a:r>
              <a:rPr lang="en-US" sz="1300" b="0" dirty="0">
                <a:solidFill>
                  <a:srgbClr val="FFFFFF"/>
                </a:solidFill>
                <a:latin typeface="Arial Narrow"/>
              </a:rPr>
              <a:t> Glue |  MWAA |</a:t>
            </a:r>
            <a:r>
              <a:rPr sz="1300" b="0" dirty="0">
                <a:solidFill>
                  <a:srgbClr val="FFFFFF"/>
                </a:solidFill>
                <a:latin typeface="Arial Narrow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Arial Narrow"/>
              </a:rPr>
              <a:t>LangSmith</a:t>
            </a:r>
            <a:endParaRPr sz="1300" b="0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5422392"/>
            <a:ext cx="1508760" cy="50292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6217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 Narrow"/>
              </a:rPr>
              <a:t>Jingru Chen  •  </a:t>
            </a:r>
            <a:r>
              <a:rPr lang="en-US" altLang="zh-CN" sz="1000" dirty="0">
                <a:solidFill>
                  <a:srgbClr val="FFFFFF"/>
                </a:solidFill>
                <a:latin typeface="Arial Narrow"/>
              </a:rPr>
              <a:t>October 4</a:t>
            </a:r>
            <a:r>
              <a:rPr sz="1000" b="0" dirty="0">
                <a:solidFill>
                  <a:srgbClr val="FFFFFF"/>
                </a:solidFill>
                <a:latin typeface="Arial Narrow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 Narrow"/>
              </a:rPr>
              <a:t>What the Platform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 Narrow"/>
              </a:rPr>
              <a:t>One shared AWS platform while search, ranking, publication and history remain isolated by candidate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234440"/>
            <a:ext cx="64008" cy="452628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3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1801368"/>
            <a:ext cx="31546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32834"/>
                </a:solidFill>
                <a:latin typeface="Arial Narrow"/>
              </a:rPr>
              <a:t>• 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Employer sites expose different search backends and schemas.
• Candidate profiles require different job families and screening rules.
• Daily runs must avoid rescoring recent postings while still scoring every NEW eligible job.
• Recruiter-facing output needs traceable AWS / AI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1234440"/>
            <a:ext cx="64008" cy="4526280"/>
          </a:xfrm>
          <a:prstGeom prst="rect">
            <a:avLst/>
          </a:prstGeom>
          <a:solidFill>
            <a:srgbClr val="D3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ARCHITECTURE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01368"/>
            <a:ext cx="31546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32834"/>
                </a:solidFill>
                <a:latin typeface="Arial Narrow"/>
              </a:rPr>
              <a:t>• 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Shared platform + employer adapter layer.
• Central profile configuration; no title logic duplicated inside employer code.
• Deterministic screening before ML / GenAI.
• Profile-aware lifecycle and score cache.
• Daily publication with 7-day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27264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27264" y="1234440"/>
            <a:ext cx="64008" cy="452628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91856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PROFILE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1801368"/>
            <a:ext cx="31546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Frank C.
Data Science • AI • Quant • Analytics
W.Y. / Family-A
Bioanalysis • LC-MS/MS • Mass Spectrometry
Rule: profiles share infrastructure, not business search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B437C"/>
                </a:solidFill>
                <a:latin typeface="Arial Narrow"/>
              </a:rPr>
              <a:t>Design principle: share infrastructure → isolate business intent → govern deterministically → score incrementally → publish auditable daily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D459-C733-C9AA-5F6C-D3BDB1C4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53210C-4030-C857-5F60-306C1E194ACB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88CD0-1ECB-10D0-3B0C-569A86B7DC99}"/>
              </a:ext>
            </a:extLst>
          </p:cNvPr>
          <p:cNvSpPr txBox="1"/>
          <p:nvPr/>
        </p:nvSpPr>
        <p:spPr>
          <a:xfrm>
            <a:off x="384048" y="118872"/>
            <a:ext cx="106070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Arial Narrow"/>
              </a:rPr>
              <a:t>Production AI Job-Search Platform on AWS</a:t>
            </a:r>
            <a:endParaRPr sz="2300" b="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4EC1E-38AA-B6F0-A5E6-AD91A7054927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905FBB-80C2-8741-CD50-B99E63579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84" y="1083308"/>
            <a:ext cx="12238568" cy="4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1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 Narrow"/>
              </a:rPr>
              <a:t>Daily Scoring, Review &amp; Publication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9707E"/>
                </a:solidFill>
                <a:latin typeface="Arial Narrow"/>
              </a:rPr>
              <a:t>Incremental processing reduces unnecessary inference while preserving profile isolation and deterministic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325880"/>
            <a:ext cx="64008" cy="16916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3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1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1892807"/>
            <a:ext cx="3081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Employer adapters collect postings; profile configuration defines allowed job families.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3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15383" y="1325880"/>
            <a:ext cx="64008" cy="1691640"/>
          </a:xfrm>
          <a:prstGeom prst="rect">
            <a:avLst/>
          </a:prstGeom>
          <a:solidFill>
            <a:srgbClr val="D3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5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2 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5" y="1892807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Exclude internships, irrelevant roles and disallowed clearance requirements before AI scoring.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325880"/>
            <a:ext cx="64008" cy="1691640"/>
          </a:xfrm>
          <a:prstGeom prst="rect">
            <a:avLst/>
          </a:prstGeom>
          <a:solidFill>
            <a:srgbClr val="7D4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3 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892807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 Narrow"/>
              </a:rPr>
              <a:t>Identify NEW eligible postings; reuse recent cached scores when allowed by lifecycle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3383280"/>
            <a:ext cx="64008" cy="16916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3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4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Score every NEW eligible posting with SageMaker; retain model evidence for downstream selection.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15383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15383" y="3383280"/>
            <a:ext cx="64008" cy="16916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5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5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5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Use Bedrock for grounded review while preserving deterministic governance boundaries.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91856" y="3383280"/>
            <a:ext cx="64008" cy="16916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6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Rank high-to-low and retain up to Top 5 NEW jobs per employer; publish profile/date artifacts.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latin typeface="Arial Narrow"/>
              </a:rPr>
              <a:t>Daily contract: score all NEW eligible jobs first → then select Top 5 per employer → publish without cross-profile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46304"/>
            <a:ext cx="9692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/>
              <a:t>ML Ground Truth, </a:t>
            </a:r>
            <a:r>
              <a:rPr dirty="0" err="1"/>
              <a:t>XGBoost</a:t>
            </a:r>
            <a:r>
              <a:rPr dirty="0"/>
              <a:t> Scoring &amp; Bedrock GenAI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5544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1322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A7A"/>
                </a:solidFill>
              </a:defRPr>
            </a:pPr>
            <a:r>
              <a:rPr sz="1400" dirty="0"/>
              <a:t>Two profile-specific SageMaker </a:t>
            </a:r>
            <a:r>
              <a:rPr sz="1400" dirty="0" err="1"/>
              <a:t>XGBoost</a:t>
            </a:r>
            <a:r>
              <a:rPr sz="1400" dirty="0"/>
              <a:t> models provide quantitative job-fit scoring; Amazon Nova 2 Lite on Bedrock provides grounded semantic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1463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200" dirty="0"/>
              <a:t>1  Human / graded</a:t>
            </a:r>
            <a:br>
              <a:rPr sz="1200" dirty="0"/>
            </a:br>
            <a:r>
              <a:rPr sz="1200" dirty="0"/>
              <a:t>Ground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12264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2  Structured</a:t>
            </a:r>
            <a:br>
              <a:rPr sz="1300" dirty="0"/>
            </a:br>
            <a:r>
              <a:rPr sz="1300" dirty="0"/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1261872"/>
            <a:ext cx="1417320" cy="658368"/>
          </a:xfrm>
          <a:prstGeom prst="roundRect">
            <a:avLst/>
          </a:prstGeom>
          <a:solidFill>
            <a:srgbClr val="DAE3EE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3  </a:t>
            </a:r>
            <a:r>
              <a:rPr sz="1300" dirty="0" err="1"/>
              <a:t>XGBoost</a:t>
            </a:r>
            <a:br>
              <a:rPr sz="1300" dirty="0"/>
            </a:br>
            <a:r>
              <a:rPr sz="1300" dirty="0"/>
              <a:t>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9512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4  SageMaker</a:t>
            </a:r>
            <a:br>
              <a:rPr sz="1300" dirty="0"/>
            </a:br>
            <a:r>
              <a:rPr sz="1300" dirty="0"/>
              <a:t>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3136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5  Job-Fit</a:t>
            </a:r>
            <a:br>
              <a:rPr sz="1300" dirty="0"/>
            </a:br>
            <a:r>
              <a:rPr sz="1300" dirty="0"/>
              <a:t>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261872"/>
            <a:ext cx="1417320" cy="658368"/>
          </a:xfrm>
          <a:prstGeom prst="roundRect">
            <a:avLst/>
          </a:prstGeom>
          <a:solidFill>
            <a:srgbClr val="DAE3EE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6  Nova 2 Lite</a:t>
            </a:r>
            <a:br>
              <a:rPr sz="1300" dirty="0"/>
            </a:br>
            <a:r>
              <a:rPr sz="1300" dirty="0"/>
              <a:t>GenAI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0384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7  Governed</a:t>
            </a:r>
            <a:br>
              <a:rPr sz="1300" dirty="0"/>
            </a:br>
            <a:r>
              <a:rPr sz="1300" dirty="0"/>
              <a:t>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48840"/>
            <a:ext cx="3611880" cy="37439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73152" cy="37439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rPr dirty="0"/>
              <a:t>FRANK C. — XGBOOST JOB-FIT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2148840"/>
            <a:ext cx="3611880" cy="38201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4301063" y="2148840"/>
            <a:ext cx="60624" cy="374396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9704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t>FAMILY-A / W.Y. — XGBOOST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48840"/>
            <a:ext cx="3611880" cy="38201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48839"/>
            <a:ext cx="54864" cy="3743959"/>
          </a:xfrm>
          <a:prstGeom prst="rect">
            <a:avLst/>
          </a:prstGeom>
          <a:solidFill>
            <a:srgbClr val="BE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9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t>AMAZON BEDROCK — NOVA 2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697480"/>
            <a:ext cx="3264408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Supervised </a:t>
            </a:r>
            <a:r>
              <a:rPr sz="1300" dirty="0" err="1"/>
              <a:t>XGBoost</a:t>
            </a:r>
            <a:r>
              <a:rPr sz="1300" dirty="0"/>
              <a:t> model trained in SageMaker.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Ground truth: 24 labeled training rows; 8 human-approved positive rows.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Structured fit features feed quantitative ranking.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Real Batch Transform example: GDIT RQ227420 → score 0.8923.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Interpretation guardrail: small-sample demonstration score, not a calibrated probability.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697480"/>
            <a:ext cx="331012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lang="en-US" sz="1300" dirty="0"/>
              <a:t>• Separate profile-specific SageMaker </a:t>
            </a:r>
            <a:r>
              <a:rPr lang="en-US" sz="1300" dirty="0" err="1"/>
              <a:t>XGBoost</a:t>
            </a:r>
            <a:r>
              <a:rPr lang="en-US" sz="1300" dirty="0"/>
              <a:t> model for bioanalysis roles.  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lang="en-US" sz="1300" dirty="0"/>
              <a:t>• Independent model + inference + prediction artifacts preserve profile isolation.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lang="en-US" sz="1300" dirty="0"/>
              <a:t>• Purpose: rank LC-MS/MS / bioanalysis opportunities using Family-A-specific relevance. 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lang="en-US" sz="1300" dirty="0"/>
              <a:t> • Exact aggregate accuracy / calibration metrics are not claimed by the recovered evidence.</a:t>
            </a:r>
            <a:endParaRPr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8247888" y="2697480"/>
            <a:ext cx="3346704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Amazon Nova 2 Lite is a transformer-based generative foundation model available through Amazon Bedrock.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Project role: read JD + profile context and produce grounded semantic review.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Outputs: verified matches, gaps / unknowns, concise assessment.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Bedrock does not replace deterministic screening and does not overwrite the SageMaker score.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Separation of duties: </a:t>
            </a:r>
            <a:r>
              <a:rPr sz="1300" dirty="0" err="1"/>
              <a:t>XGBoost</a:t>
            </a:r>
            <a:r>
              <a:rPr sz="1300" dirty="0"/>
              <a:t> ranks quantitatively; Nova explains semantically.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C899F-F9E4-20CA-3361-E6B8A856EF47}"/>
              </a:ext>
            </a:extLst>
          </p:cNvPr>
          <p:cNvSpPr/>
          <p:nvPr/>
        </p:nvSpPr>
        <p:spPr>
          <a:xfrm>
            <a:off x="25908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lang="en-US" dirty="0"/>
              <a:t>        ML Ground Truth, </a:t>
            </a:r>
            <a:r>
              <a:rPr lang="en-US" dirty="0" err="1"/>
              <a:t>XGBoost</a:t>
            </a:r>
            <a:r>
              <a:rPr lang="en-US" dirty="0"/>
              <a:t> Scoring &amp; Bedrock GenAI Review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027DF-CA29-1816-6EFF-88E361BCA6E2}"/>
              </a:ext>
            </a:extLst>
          </p:cNvPr>
          <p:cNvSpPr txBox="1"/>
          <p:nvPr/>
        </p:nvSpPr>
        <p:spPr>
          <a:xfrm>
            <a:off x="713232" y="6318376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latin typeface="Arial Narrow"/>
              </a:rPr>
              <a:t>ML / GenAI design: human-review labels -&gt; profile-specific </a:t>
            </a:r>
            <a:r>
              <a:rPr lang="en-US" sz="1300" b="1" dirty="0" err="1">
                <a:latin typeface="Arial Narrow"/>
              </a:rPr>
              <a:t>XGBoost</a:t>
            </a:r>
            <a:r>
              <a:rPr lang="en-US" sz="1300" b="1" dirty="0">
                <a:latin typeface="Arial Narrow"/>
              </a:rPr>
              <a:t> scoring -&gt; grounded Nova 2 Lite review -&gt; governed publication</a:t>
            </a:r>
            <a:endParaRPr sz="1300" b="1" dirty="0">
              <a:latin typeface="Arial Narr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98CD99-F701-CD99-240D-4D1CEA28E289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333F-D8FA-7293-E074-1EB66756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79B3C-62D3-D143-2161-F081CE2E105E}"/>
              </a:ext>
            </a:extLst>
          </p:cNvPr>
          <p:cNvSpPr txBox="1"/>
          <p:nvPr/>
        </p:nvSpPr>
        <p:spPr>
          <a:xfrm>
            <a:off x="502920" y="146304"/>
            <a:ext cx="9692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/>
              <a:t>ML Ground Truth, </a:t>
            </a:r>
            <a:r>
              <a:rPr dirty="0" err="1"/>
              <a:t>XGBoost</a:t>
            </a:r>
            <a:r>
              <a:rPr dirty="0"/>
              <a:t> Scoring &amp; Bedrock GenAI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353B1-F24F-B587-5621-794F5762AB35}"/>
              </a:ext>
            </a:extLst>
          </p:cNvPr>
          <p:cNvSpPr txBox="1"/>
          <p:nvPr/>
        </p:nvSpPr>
        <p:spPr>
          <a:xfrm>
            <a:off x="11199820" y="155448"/>
            <a:ext cx="4587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  <a:highlight>
                  <a:srgbClr val="00FF00"/>
                </a:highlight>
              </a:rPr>
              <a:t>5</a:t>
            </a:r>
            <a:r>
              <a:rPr lang="en-US" dirty="0">
                <a:solidFill>
                  <a:schemeClr val="bg1"/>
                </a:solidFill>
                <a:highlight>
                  <a:srgbClr val="00FF00"/>
                </a:highlight>
              </a:rPr>
              <a:t>56</a:t>
            </a:r>
            <a:endParaRPr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AB74EE-C381-AAD6-E785-4715521AABDD}"/>
              </a:ext>
            </a:extLst>
          </p:cNvPr>
          <p:cNvSpPr/>
          <p:nvPr/>
        </p:nvSpPr>
        <p:spPr>
          <a:xfrm>
            <a:off x="25908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lang="en-US" dirty="0"/>
              <a:t>  Production AWS Evidence — SageMaker </a:t>
            </a:r>
            <a:r>
              <a:rPr lang="en-US" dirty="0" err="1"/>
              <a:t>XGBoost</a:t>
            </a:r>
            <a:r>
              <a:rPr lang="en-US" dirty="0"/>
              <a:t> &amp; Bedrock Nova 2 Lite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54DA648-E170-63F0-5BA2-A024335C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" y="674733"/>
            <a:ext cx="6601392" cy="60117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A004B76-11EB-9DEF-556A-C2CE82DB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67" y="640080"/>
            <a:ext cx="5655733" cy="26608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9E7643D-E048-4E62-B99E-E3B92269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267" y="3317343"/>
            <a:ext cx="5655733" cy="35406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34974A0-34A3-8B10-9C03-FB333BEDF2F8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3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Arial Narrow"/>
              </a:rPr>
              <a:t>AWS Website — Profile-Isolated Daily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07E"/>
                </a:solidFill>
                <a:latin typeface="Arial Narrow"/>
              </a:rPr>
              <a:t>HR-ready website presents candidate-specific daily history while keeping the underlying platform shared.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44348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4264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FRANK C. — DATA SCIENCE /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47088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September 29 daily publication
• Root summary: 3,154 raw jobs searched
• 191 passed deterministic governance
• 191 AI-scored NEW jobs
• 20 published Top jobs
Employers represented in the frozen daily artifact include Capital One, GDIT, Navy Federal and Optum.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4348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264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W.Y. / FAMILY-A — BIOANALYSIS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47088"/>
            <a:ext cx="5029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September 29 daily publication
• Real employer/job records only
• AstraZeneca — Oncology Bioanalytical Strategy Lead
• Pfizer — Senior Scientist Mass </a:t>
            </a:r>
            <a:r>
              <a:rPr sz="1400" b="0" dirty="0" err="1">
                <a:solidFill>
                  <a:srgbClr val="232834"/>
                </a:solidFill>
                <a:latin typeface="Arial Narrow"/>
              </a:rPr>
              <a:t>Spectrometrist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
September 28 was intentionally not backfilled because the only recovered Family-A artifact was a synthetic contract-test fixture.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437C"/>
                </a:solidFill>
                <a:latin typeface="Arial Narrow"/>
              </a:rPr>
              <a:t>Governance choice: missing historical evidence is preferable to publishing synthetic or unverifiable job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0E90-5FE6-E83A-06C2-09E0E301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B5FC12-DF2A-FA51-010A-47D5ADC2CF5E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4AAEF-F7C2-F78D-A49E-81612A1690C0}"/>
              </a:ext>
            </a:extLst>
          </p:cNvPr>
          <p:cNvSpPr txBox="1"/>
          <p:nvPr/>
        </p:nvSpPr>
        <p:spPr>
          <a:xfrm>
            <a:off x="384048" y="118872"/>
            <a:ext cx="106070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Arial Narrow"/>
              </a:rPr>
              <a:t>AWS Glue Analytics Pipeline — Visual ETL &amp; Schema Transformation</a:t>
            </a:r>
            <a:endParaRPr sz="2300" b="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F9577-99C0-4E16-CB95-76ADBD478E2C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D3F511-A0F7-F7F6-D6B1-417C1756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03" y="702308"/>
            <a:ext cx="10223130" cy="58047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284B748-7F68-FCCA-BEB0-8F7E949A506B}"/>
              </a:ext>
            </a:extLst>
          </p:cNvPr>
          <p:cNvSpPr txBox="1"/>
          <p:nvPr/>
        </p:nvSpPr>
        <p:spPr>
          <a:xfrm>
            <a:off x="910166" y="6517564"/>
            <a:ext cx="105198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S3 daily snapshots → schema transformation → partitioned Parquet → Glue Data Catalog → Athena validation</a:t>
            </a:r>
          </a:p>
        </p:txBody>
      </p:sp>
    </p:spTree>
    <p:extLst>
      <p:ext uri="{BB962C8B-B14F-4D97-AF65-F5344CB8AC3E}">
        <p14:creationId xmlns:p14="http://schemas.microsoft.com/office/powerpoint/2010/main" val="326724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8D3D5-58A3-7DA1-EF5C-69F131C56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45" y="658368"/>
            <a:ext cx="10171309" cy="58333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FAD7BB-14E5-6F54-C53E-085889B69F29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b="1" dirty="0">
                <a:latin typeface="Arial Narrow" panose="020B0606020202030204" pitchFamily="34" charset="0"/>
              </a:rPr>
              <a:t>        Governed Workflow Orchestration with Amazon MWAA</a:t>
            </a:r>
            <a:endParaRPr sz="2300" b="1" dirty="0"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2EFA-C6F5-3EE9-1A34-C7594FB849E3}"/>
              </a:ext>
            </a:extLst>
          </p:cNvPr>
          <p:cNvSpPr txBox="1"/>
          <p:nvPr/>
        </p:nvSpPr>
        <p:spPr>
          <a:xfrm>
            <a:off x="859366" y="6488668"/>
            <a:ext cx="113326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Dependency Management | Retry &amp; Failure Handling | Run-Scoped Staging | Governed Promotion | Final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ADDD6-19A4-16C8-54EA-C01197DB76F3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83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2863-F7F9-3CA8-DC29-305CF5DC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D85988-3195-ACB6-8B06-F199655405DF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b="1" dirty="0">
                <a:latin typeface="Arial Narrow" panose="020B0606020202030204" pitchFamily="34" charset="0"/>
              </a:rPr>
              <a:t> Production Observability &amp; Governance</a:t>
            </a:r>
            <a:endParaRPr sz="2300" b="1" dirty="0">
              <a:latin typeface="Arial Narrow" panose="020B0606020202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2B2F01-D83C-A651-EF7D-76C9FFDA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204" y="658368"/>
            <a:ext cx="4267796" cy="52394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BF9D03-E9AC-EFD0-98CE-ACA5D24C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87" y="658368"/>
            <a:ext cx="4506844" cy="50650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134E121-CC45-6273-0221-0A01F62C6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797" y="663550"/>
            <a:ext cx="4067743" cy="5398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325880-0807-D67D-0F30-7F78A4D25011}"/>
              </a:ext>
            </a:extLst>
          </p:cNvPr>
          <p:cNvSpPr txBox="1"/>
          <p:nvPr/>
        </p:nvSpPr>
        <p:spPr>
          <a:xfrm>
            <a:off x="0" y="6197169"/>
            <a:ext cx="42677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AWS Runtime — CloudWatch · MWAA_E2E_PASS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6856A-590D-934A-1E87-1F6B415C8531}"/>
              </a:ext>
            </a:extLst>
          </p:cNvPr>
          <p:cNvSpPr txBox="1"/>
          <p:nvPr/>
        </p:nvSpPr>
        <p:spPr>
          <a:xfrm>
            <a:off x="4396667" y="6194450"/>
            <a:ext cx="38100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Workflow — Airflow · 8/8 Tasks Passed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5412F-5C05-9715-1439-D6B51A4C9E58}"/>
              </a:ext>
            </a:extLst>
          </p:cNvPr>
          <p:cNvSpPr txBox="1"/>
          <p:nvPr/>
        </p:nvSpPr>
        <p:spPr>
          <a:xfrm>
            <a:off x="8335538" y="6194449"/>
            <a:ext cx="38100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AI / Agent — </a:t>
            </a:r>
            <a:r>
              <a:rPr lang="en-US" sz="1500" dirty="0" err="1"/>
              <a:t>LangSmith</a:t>
            </a:r>
            <a:r>
              <a:rPr lang="en-US" sz="1500" dirty="0"/>
              <a:t> · Multi-Stage 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B6259-4EFC-32C6-3E2B-4D74F3AF2012}"/>
              </a:ext>
            </a:extLst>
          </p:cNvPr>
          <p:cNvSpPr txBox="1"/>
          <p:nvPr/>
        </p:nvSpPr>
        <p:spPr>
          <a:xfrm>
            <a:off x="11539727" y="137160"/>
            <a:ext cx="45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64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951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jingru chen</dc:creator>
  <cp:keywords/>
  <dc:description>generated using python-pptx</dc:description>
  <cp:lastModifiedBy>jingru chen</cp:lastModifiedBy>
  <cp:revision>28</cp:revision>
  <dcterms:created xsi:type="dcterms:W3CDTF">2013-01-27T09:14:16Z</dcterms:created>
  <dcterms:modified xsi:type="dcterms:W3CDTF">2026-10-04T03:59:36Z</dcterms:modified>
  <cp:category/>
</cp:coreProperties>
</file>